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871c9fff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871c9fff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871c9fff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871c9fff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3871c9fff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3871c9fff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871c9fff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3871c9fff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871c9fff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871c9fff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Scrum-Agile Approach</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Addison Janovich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Agile Roles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Product Owner- According to Dave West “Scrum product owners </a:t>
            </a:r>
            <a:r>
              <a:rPr lang="en"/>
              <a:t>understand</a:t>
            </a:r>
            <a:r>
              <a:rPr lang="en"/>
              <a:t> the </a:t>
            </a:r>
            <a:r>
              <a:rPr lang="en"/>
              <a:t>customer</a:t>
            </a:r>
            <a:r>
              <a:rPr lang="en"/>
              <a:t> and business </a:t>
            </a:r>
            <a:r>
              <a:rPr lang="en"/>
              <a:t>requirements, then create and manage the product backlog based on those requirements”(West, 2019).</a:t>
            </a:r>
            <a:endParaRPr/>
          </a:p>
          <a:p>
            <a:pPr indent="0" lvl="0" marL="0" rtl="0" algn="l">
              <a:spcBef>
                <a:spcPts val="1200"/>
              </a:spcBef>
              <a:spcAft>
                <a:spcPts val="0"/>
              </a:spcAft>
              <a:buNone/>
            </a:pPr>
            <a:r>
              <a:rPr lang="en"/>
              <a:t>Scrum Master- “The scrum master is the role responsible for gluing everything together and ensuring that the scrum is being done well”(West, 2019).</a:t>
            </a:r>
            <a:endParaRPr/>
          </a:p>
          <a:p>
            <a:pPr indent="0" lvl="0" marL="0" rtl="0" algn="l">
              <a:spcBef>
                <a:spcPts val="1200"/>
              </a:spcBef>
              <a:spcAft>
                <a:spcPts val="1200"/>
              </a:spcAft>
              <a:buNone/>
            </a:pPr>
            <a:r>
              <a:rPr lang="en"/>
              <a:t>Developers- The development teams sole responsibility is delivering the work through the sprint.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Agile Phases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Concept- During this phase the Product Owner will determine the scope of the </a:t>
            </a:r>
            <a:r>
              <a:rPr lang="en"/>
              <a:t>project. Key requirements, including what features and the proposed end result(Zhezherau, 2022).</a:t>
            </a:r>
            <a:endParaRPr/>
          </a:p>
          <a:p>
            <a:pPr indent="0" lvl="0" marL="0" rtl="0" algn="l">
              <a:spcBef>
                <a:spcPts val="1200"/>
              </a:spcBef>
              <a:spcAft>
                <a:spcPts val="0"/>
              </a:spcAft>
              <a:buNone/>
            </a:pPr>
            <a:r>
              <a:rPr lang="en"/>
              <a:t>Inception- During this phase the </a:t>
            </a:r>
            <a:r>
              <a:rPr lang="en"/>
              <a:t>requirements</a:t>
            </a:r>
            <a:r>
              <a:rPr lang="en"/>
              <a:t> determined by the stakeholders will be put on a diagram and </a:t>
            </a:r>
            <a:r>
              <a:rPr lang="en"/>
              <a:t>determine</a:t>
            </a:r>
            <a:r>
              <a:rPr lang="en"/>
              <a:t> the product </a:t>
            </a:r>
            <a:r>
              <a:rPr lang="en"/>
              <a:t>functionality. User stories are developed in this stage. </a:t>
            </a:r>
            <a:endParaRPr/>
          </a:p>
          <a:p>
            <a:pPr indent="0" lvl="0" marL="0" rtl="0" algn="l">
              <a:spcBef>
                <a:spcPts val="1200"/>
              </a:spcBef>
              <a:spcAft>
                <a:spcPts val="0"/>
              </a:spcAft>
              <a:buNone/>
            </a:pPr>
            <a:r>
              <a:rPr lang="en"/>
              <a:t>Iteration- This is the longest </a:t>
            </a:r>
            <a:r>
              <a:rPr lang="en"/>
              <a:t>phase, this is where majority of the work is done. The developers will work “to combine all product requirements and customer feedback, turning the design into code”(Zhezherau, 2022). </a:t>
            </a:r>
            <a:endParaRPr/>
          </a:p>
          <a:p>
            <a:pPr indent="0" lvl="0" marL="0" rtl="0" algn="l">
              <a:spcBef>
                <a:spcPts val="1200"/>
              </a:spcBef>
              <a:spcAft>
                <a:spcPts val="0"/>
              </a:spcAft>
              <a:buNone/>
            </a:pPr>
            <a:r>
              <a:rPr lang="en"/>
              <a:t>Release- In this stage the testers will test the </a:t>
            </a:r>
            <a:r>
              <a:rPr lang="en"/>
              <a:t>system</a:t>
            </a:r>
            <a:r>
              <a:rPr lang="en"/>
              <a:t> to ensure its fully functional. They will ensure that the code is clean also if any bugs or defects are detected and the developers will </a:t>
            </a:r>
            <a:r>
              <a:rPr lang="en"/>
              <a:t>address</a:t>
            </a:r>
            <a:r>
              <a:rPr lang="en"/>
              <a:t> the issues as they arise. </a:t>
            </a:r>
            <a:endParaRPr/>
          </a:p>
          <a:p>
            <a:pPr indent="0" lvl="0" marL="0" rtl="0" algn="l">
              <a:spcBef>
                <a:spcPts val="1200"/>
              </a:spcBef>
              <a:spcAft>
                <a:spcPts val="0"/>
              </a:spcAft>
              <a:buNone/>
            </a:pPr>
            <a:r>
              <a:rPr lang="en"/>
              <a:t>Maintenance- The software is moved into this phase once it is released out to customers. The development team will keep close watch and provide support to keep the system running smoothly and resolve any new bugs()Zhezherau, 2022. </a:t>
            </a:r>
            <a:endParaRPr/>
          </a:p>
          <a:p>
            <a:pPr indent="0" lvl="0" marL="0" rtl="0" algn="l">
              <a:spcBef>
                <a:spcPts val="1200"/>
              </a:spcBef>
              <a:spcAft>
                <a:spcPts val="1200"/>
              </a:spcAft>
              <a:buNone/>
            </a:pPr>
            <a:r>
              <a:rPr lang="en"/>
              <a:t>Retirement- Lastly, this phase is debatable. A system may move into this phase if it is being replaced with a newer software or it is no longer compatible with the organization over time(Zhezherau, 2022).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Waterfall Model</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Waterfall method has </a:t>
            </a:r>
            <a:r>
              <a:rPr lang="en"/>
              <a:t>similar</a:t>
            </a:r>
            <a:r>
              <a:rPr lang="en"/>
              <a:t> stages including </a:t>
            </a:r>
            <a:r>
              <a:rPr lang="en"/>
              <a:t>requirements, design, implementation, verification or testing, and deployment and maintenance.</a:t>
            </a:r>
            <a:endParaRPr/>
          </a:p>
          <a:p>
            <a:pPr indent="0" lvl="0" marL="0" rtl="0" algn="l">
              <a:spcBef>
                <a:spcPts val="1200"/>
              </a:spcBef>
              <a:spcAft>
                <a:spcPts val="0"/>
              </a:spcAft>
              <a:buNone/>
            </a:pPr>
            <a:r>
              <a:rPr lang="en"/>
              <a:t>Where the Waterfall method differs lies within the stages. </a:t>
            </a:r>
            <a:endParaRPr/>
          </a:p>
          <a:p>
            <a:pPr indent="-342900" lvl="0" marL="457200" rtl="0" algn="l">
              <a:spcBef>
                <a:spcPts val="1200"/>
              </a:spcBef>
              <a:spcAft>
                <a:spcPts val="0"/>
              </a:spcAft>
              <a:buSzPts val="1800"/>
              <a:buChar char="●"/>
            </a:pPr>
            <a:r>
              <a:rPr lang="en"/>
              <a:t>“The Waterfall method depends on the belief that all project requirements can be gathered and understood upfront”(Adobe Communications Team, 2022).</a:t>
            </a:r>
            <a:endParaRPr/>
          </a:p>
          <a:p>
            <a:pPr indent="-342900" lvl="0" marL="457200" rtl="0" algn="l">
              <a:spcBef>
                <a:spcPts val="0"/>
              </a:spcBef>
              <a:spcAft>
                <a:spcPts val="0"/>
              </a:spcAft>
              <a:buSzPts val="1800"/>
              <a:buChar char="●"/>
            </a:pPr>
            <a:r>
              <a:rPr lang="en"/>
              <a:t>The Waterfall method requires that each phase is completed before the next begins.</a:t>
            </a:r>
            <a:endParaRPr/>
          </a:p>
          <a:p>
            <a:pPr indent="-342900" lvl="0" marL="457200" rtl="0" algn="l">
              <a:spcBef>
                <a:spcPts val="0"/>
              </a:spcBef>
              <a:spcAft>
                <a:spcPts val="0"/>
              </a:spcAft>
              <a:buSzPts val="1800"/>
              <a:buChar char="●"/>
            </a:pPr>
            <a:r>
              <a:rPr lang="en"/>
              <a:t>Also, unlike Agile where testing is done throughout the sprint, when using the waterfall method testing is done at the end. </a:t>
            </a:r>
            <a:endParaRPr/>
          </a:p>
          <a:p>
            <a:pPr indent="0" lvl="0" marL="45720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Waterfall or Agile Approach</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a:t>
            </a:r>
            <a:r>
              <a:rPr lang="en"/>
              <a:t>requirements</a:t>
            </a:r>
            <a:r>
              <a:rPr lang="en"/>
              <a:t> for the project are unlikely to change then  the waterfall </a:t>
            </a:r>
            <a:r>
              <a:rPr lang="en"/>
              <a:t>method</a:t>
            </a:r>
            <a:r>
              <a:rPr lang="en"/>
              <a:t> may be more </a:t>
            </a:r>
            <a:r>
              <a:rPr lang="en"/>
              <a:t>suitable. As the Agile method is used because it is very flexible and adjusts well to new requirements. </a:t>
            </a:r>
            <a:endParaRPr/>
          </a:p>
          <a:p>
            <a:pPr indent="-342900" lvl="0" marL="457200" rtl="0" algn="l">
              <a:spcBef>
                <a:spcPts val="0"/>
              </a:spcBef>
              <a:spcAft>
                <a:spcPts val="0"/>
              </a:spcAft>
              <a:buSzPts val="1800"/>
              <a:buChar char="●"/>
            </a:pPr>
            <a:r>
              <a:rPr lang="en"/>
              <a:t>Also, the Agile method encourages customer collaboration throughout each phase unlike Waterfall when customers are involved during the requirements phase. “Agile thrives on continuous feedback and regular adaptations”(DigitalOcean, 2024). </a:t>
            </a:r>
            <a:endParaRPr/>
          </a:p>
          <a:p>
            <a:pPr indent="-342900" lvl="0" marL="457200" rtl="0" algn="l">
              <a:spcBef>
                <a:spcPts val="0"/>
              </a:spcBef>
              <a:spcAft>
                <a:spcPts val="0"/>
              </a:spcAft>
              <a:buSzPts val="1800"/>
              <a:buChar char="●"/>
            </a:pPr>
            <a:r>
              <a:rPr lang="en"/>
              <a:t>Waterfall method is more suitable for larger projects as the Agile approach is better suited for smaller projects that are broken down to smaller teams.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r>
              <a:rPr lang="en"/>
              <a:t>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57200" lvl="0" marL="457200" rtl="0" algn="l">
              <a:lnSpc>
                <a:spcPct val="200000"/>
              </a:lnSpc>
              <a:spcBef>
                <a:spcPts val="0"/>
              </a:spcBef>
              <a:spcAft>
                <a:spcPts val="0"/>
              </a:spcAft>
              <a:buNone/>
            </a:pPr>
            <a:r>
              <a:rPr lang="en" sz="1400">
                <a:latin typeface="Times New Roman"/>
                <a:ea typeface="Times New Roman"/>
                <a:cs typeface="Times New Roman"/>
                <a:sym typeface="Times New Roman"/>
              </a:rPr>
              <a:t>Adobe Communications Team. (2022, March 18). </a:t>
            </a:r>
            <a:r>
              <a:rPr i="1" lang="en" sz="1400">
                <a:latin typeface="Times New Roman"/>
                <a:ea typeface="Times New Roman"/>
                <a:cs typeface="Times New Roman"/>
                <a:sym typeface="Times New Roman"/>
              </a:rPr>
              <a:t>Waterfall Methodology: Project Management | Adobe Workfront</a:t>
            </a:r>
            <a:r>
              <a:rPr lang="en" sz="1400">
                <a:latin typeface="Times New Roman"/>
                <a:ea typeface="Times New Roman"/>
                <a:cs typeface="Times New Roman"/>
                <a:sym typeface="Times New Roman"/>
              </a:rPr>
              <a:t>. Adobe.com. https://business.adobe.com/blog/basics/waterfall</a:t>
            </a:r>
            <a:endParaRPr sz="14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400">
                <a:latin typeface="Times New Roman"/>
                <a:ea typeface="Times New Roman"/>
                <a:cs typeface="Times New Roman"/>
                <a:sym typeface="Times New Roman"/>
              </a:rPr>
              <a:t>DigitalOcean. (2024). </a:t>
            </a:r>
            <a:r>
              <a:rPr i="1" lang="en" sz="1400">
                <a:latin typeface="Times New Roman"/>
                <a:ea typeface="Times New Roman"/>
                <a:cs typeface="Times New Roman"/>
                <a:sym typeface="Times New Roman"/>
              </a:rPr>
              <a:t>Agile vs. Waterfall: How to choose the right framework | DigitalOcean</a:t>
            </a:r>
            <a:r>
              <a:rPr lang="en" sz="1400">
                <a:latin typeface="Times New Roman"/>
                <a:ea typeface="Times New Roman"/>
                <a:cs typeface="Times New Roman"/>
                <a:sym typeface="Times New Roman"/>
              </a:rPr>
              <a:t>. Digitalocean.com. https://www.digitalocean.com/resources/articles/agile-vs-waterfall</a:t>
            </a:r>
            <a:endParaRPr sz="14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400">
                <a:latin typeface="Times New Roman"/>
                <a:ea typeface="Times New Roman"/>
                <a:cs typeface="Times New Roman"/>
                <a:sym typeface="Times New Roman"/>
              </a:rPr>
              <a:t>West, D. (2019). </a:t>
            </a:r>
            <a:r>
              <a:rPr i="1" lang="en" sz="1400">
                <a:latin typeface="Times New Roman"/>
                <a:ea typeface="Times New Roman"/>
                <a:cs typeface="Times New Roman"/>
                <a:sym typeface="Times New Roman"/>
              </a:rPr>
              <a:t>Agile Scrum Roles | Atlassian</a:t>
            </a:r>
            <a:r>
              <a:rPr lang="en" sz="1400">
                <a:latin typeface="Times New Roman"/>
                <a:ea typeface="Times New Roman"/>
                <a:cs typeface="Times New Roman"/>
                <a:sym typeface="Times New Roman"/>
              </a:rPr>
              <a:t>. Atlassian. https://www.atlassian.com/agile/scrum/roles</a:t>
            </a:r>
            <a:endParaRPr sz="1400">
              <a:latin typeface="Times New Roman"/>
              <a:ea typeface="Times New Roman"/>
              <a:cs typeface="Times New Roman"/>
              <a:sym typeface="Times New Roman"/>
            </a:endParaRPr>
          </a:p>
          <a:p>
            <a:pPr indent="-457200" lvl="0" marL="457200" rtl="0" algn="l">
              <a:lnSpc>
                <a:spcPct val="200000"/>
              </a:lnSpc>
              <a:spcBef>
                <a:spcPts val="0"/>
              </a:spcBef>
              <a:spcAft>
                <a:spcPts val="0"/>
              </a:spcAft>
              <a:buNone/>
            </a:pPr>
            <a:r>
              <a:rPr lang="en" sz="1400">
                <a:latin typeface="Times New Roman"/>
                <a:ea typeface="Times New Roman"/>
                <a:cs typeface="Times New Roman"/>
                <a:sym typeface="Times New Roman"/>
              </a:rPr>
              <a:t>Zhezherau, A. (2022). </a:t>
            </a:r>
            <a:r>
              <a:rPr i="1" lang="en" sz="1400">
                <a:latin typeface="Times New Roman"/>
                <a:ea typeface="Times New Roman"/>
                <a:cs typeface="Times New Roman"/>
                <a:sym typeface="Times New Roman"/>
              </a:rPr>
              <a:t>The Agile Software Development Life Cycle | Wrike Agile Guide</a:t>
            </a:r>
            <a:r>
              <a:rPr lang="en" sz="1400">
                <a:latin typeface="Times New Roman"/>
                <a:ea typeface="Times New Roman"/>
                <a:cs typeface="Times New Roman"/>
                <a:sym typeface="Times New Roman"/>
              </a:rPr>
              <a:t>. Wrike. https://www.wrike.com/agile-guide/agile-development-life-cycle/</a:t>
            </a:r>
            <a:endParaRPr sz="1400">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